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by Category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9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7D6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Office Supplies</c:v>
                  </c:pt>
                  <c:pt idx="1">
                    <c:v>Technology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643708</c:v>
                </c:pt>
                <c:pt idx="1">
                  <c:v>470588</c:v>
                </c:pt>
                <c:pt idx="2">
                  <c:v>451509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Profit Margin: 11.2%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Financials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7D62"/>
              </a:solidFill>
              <a:effectLst/>
            </c:spPr>
          </c:dPt>
          <c:dPt>
            <c:idx val="1"/>
            <c:bubble3D val="0"/>
            <c:spPr>
              <a:solidFill>
                <a:srgbClr val="E8EC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Profit</c:v>
                </c:pt>
                <c:pt idx="1">
                  <c:v>Cost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175262</c:v>
                </c:pt>
                <c:pt idx="1">
                  <c:v>1390542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by Customer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bubble3D val="0"/>
            <c:spPr>
              <a:solidFill>
                <a:srgbClr val="0099CC"/>
              </a:solidFill>
              <a:effectLst/>
            </c:spPr>
          </c:dPt>
          <c:dPt>
            <c:idx val="2"/>
            <c:bubble3D val="0"/>
            <c:spPr>
              <a:solidFill>
                <a:srgbClr val="067D6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753002</c:v>
                </c:pt>
                <c:pt idx="1">
                  <c:v>509743</c:v>
                </c:pt>
                <c:pt idx="2">
                  <c:v>303059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Sub-Categories by Sales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1319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19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32F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32F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99A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899A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Phones</c:v>
                  </c:pt>
                  <c:pt idx="1">
                    <c:v>Chairs</c:v>
                  </c:pt>
                  <c:pt idx="2">
                    <c:v>Binders</c:v>
                  </c:pt>
                  <c:pt idx="3">
                    <c:v>Storage</c:v>
                  </c:pt>
                  <c:pt idx="4">
                    <c:v>Accessories</c:v>
                  </c:pt>
                  <c:pt idx="5">
                    <c:v>Tables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196564</c:v>
                </c:pt>
                <c:pt idx="1">
                  <c:v>181946</c:v>
                </c:pt>
                <c:pt idx="2">
                  <c:v>174978</c:v>
                </c:pt>
                <c:pt idx="3">
                  <c:v>150341</c:v>
                </c:pt>
                <c:pt idx="4">
                  <c:v>122301</c:v>
                </c:pt>
                <c:pt idx="5">
                  <c:v>119294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0099CC"/>
            </a:solidFill>
            <a:ln w="31750" cap="flat">
              <a:solidFill>
                <a:srgbClr val="0099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9CC"/>
              </a:solidFill>
              <a:ln w="9525" cap="flat">
                <a:solidFill>
                  <a:srgbClr val="0099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18616</c:v>
                </c:pt>
                <c:pt idx="1">
                  <c:v>19979</c:v>
                </c:pt>
                <c:pt idx="2">
                  <c:v>51716</c:v>
                </c:pt>
                <c:pt idx="3">
                  <c:v>38750</c:v>
                </c:pt>
                <c:pt idx="4">
                  <c:v>50988</c:v>
                </c:pt>
                <c:pt idx="5">
                  <c:v>40345</c:v>
                </c:pt>
                <c:pt idx="6">
                  <c:v>39262</c:v>
                </c:pt>
                <c:pt idx="7">
                  <c:v>31115</c:v>
                </c:pt>
                <c:pt idx="8">
                  <c:v>73410</c:v>
                </c:pt>
                <c:pt idx="9">
                  <c:v>42688</c:v>
                </c:pt>
                <c:pt idx="10">
                  <c:v>79412</c:v>
                </c:pt>
                <c:pt idx="11">
                  <c:v>78399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FF9900"/>
            </a:solidFill>
            <a:ln w="31750" cap="flat">
              <a:solidFill>
                <a:srgbClr val="FF9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54763</c:v>
                </c:pt>
                <c:pt idx="1">
                  <c:v>52068</c:v>
                </c:pt>
                <c:pt idx="2">
                  <c:v>64229</c:v>
                </c:pt>
                <c:pt idx="3">
                  <c:v>50808</c:v>
                </c:pt>
                <c:pt idx="4">
                  <c:v>66750</c:v>
                </c:pt>
                <c:pt idx="5">
                  <c:v>69243</c:v>
                </c:pt>
                <c:pt idx="6">
                  <c:v>60077</c:v>
                </c:pt>
                <c:pt idx="7">
                  <c:v>77339</c:v>
                </c:pt>
                <c:pt idx="8">
                  <c:v>119804</c:v>
                </c:pt>
                <c:pt idx="9">
                  <c:v>88897</c:v>
                </c:pt>
                <c:pt idx="10">
                  <c:v>130961</c:v>
                </c:pt>
                <c:pt idx="11">
                  <c:v>166186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Orders by Payment Mode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bubble3D val="0"/>
            <c:spPr>
              <a:solidFill>
                <a:srgbClr val="0099CC"/>
              </a:solidFill>
              <a:effectLst/>
            </c:spPr>
          </c:dPt>
          <c:dPt>
            <c:idx val="2"/>
            <c:bubble3D val="0"/>
            <c:spPr>
              <a:solidFill>
                <a:srgbClr val="067D6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COD</c:v>
                </c:pt>
                <c:pt idx="1">
                  <c:v>Online</c:v>
                </c:pt>
                <c:pt idx="2">
                  <c:v>Cards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2453</c:v>
                </c:pt>
                <c:pt idx="1">
                  <c:v>2164</c:v>
                </c:pt>
                <c:pt idx="2">
                  <c:v>1284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Orders by Ship Mode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319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19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9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Second Class</c:v>
                  </c:pt>
                  <c:pt idx="2">
                    <c:v>First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3451</c:v>
                </c:pt>
                <c:pt idx="1">
                  <c:v>1147</c:v>
                </c:pt>
                <c:pt idx="2">
                  <c:v>959</c:v>
                </c:pt>
                <c:pt idx="3">
                  <c:v>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Total Sales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9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7D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522441</c:v>
                </c:pt>
                <c:pt idx="1">
                  <c:v>450235</c:v>
                </c:pt>
                <c:pt idx="2">
                  <c:v>341008</c:v>
                </c:pt>
                <c:pt idx="3">
                  <c:v>252121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0"/>
            <a:ext cx="54864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00584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00584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00584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60020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60020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60020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19456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19456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219456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78892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78892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788920"/>
            <a:ext cx="91440" cy="91440"/>
          </a:xfrm>
          <a:prstGeom prst="ellipse">
            <a:avLst/>
          </a:prstGeom>
          <a:solidFill>
            <a:srgbClr val="FF9900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57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960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Sales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411480" y="1691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41148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&amp; Business Intelligence Report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3218688"/>
            <a:ext cx="292608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2019 – Dec 2020  |  Tool: Power BI  |  Market: United States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8229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$1.57M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94360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18288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$175K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943600" y="2267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8346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3,003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94360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38404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1,742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943600" y="4279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02336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sales, profit, and order performance across the business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identify which product categories and sub-categories drive the most revenue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visibility into regional sales — which US regions are underperforming?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not tracked against profitability and behaviour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shipping preferences are unanalysed, missing operational insights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trends not visible, hampering demand forecasting and planning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51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4251960" cy="82296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7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572768"/>
            <a:ext cx="3977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dashboard to monitor KPIs: Sales, Profit, Orders, Products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sales across product categories, sub-categories, and customer segments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geographic sales spread across all US regions (East, West, Central, South)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2019 vs 2020 monthly trends to detect seasonality and growth patterns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payment mode distribution and shipping mode preferences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return rate impact on net revenue and recommend corrective strategies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65960" cy="141732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965960" cy="822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5,901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65960" cy="141732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60120"/>
            <a:ext cx="1965960" cy="822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Fields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1965960" cy="141732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960120"/>
            <a:ext cx="1965960" cy="822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Yrs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177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960120"/>
            <a:ext cx="1965960" cy="141732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960120"/>
            <a:ext cx="1965960" cy="822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542032"/>
            <a:ext cx="8503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596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32F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DATASET FIELDS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871216"/>
            <a:ext cx="2560320" cy="237744"/>
          </a:xfrm>
          <a:prstGeom prst="rect">
            <a:avLst/>
          </a:prstGeom>
          <a:solidFill>
            <a:srgbClr val="232F3E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Field(s)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17520" y="2871216"/>
            <a:ext cx="1463040" cy="237744"/>
          </a:xfrm>
          <a:prstGeom prst="rect">
            <a:avLst/>
          </a:prstGeom>
          <a:solidFill>
            <a:srgbClr val="232F3E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2871216"/>
            <a:ext cx="4206240" cy="237744"/>
          </a:xfrm>
          <a:prstGeom prst="rect">
            <a:avLst/>
          </a:prstGeom>
          <a:solidFill>
            <a:srgbClr val="232F3E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118104"/>
            <a:ext cx="25603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/ Order Date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3118104"/>
            <a:ext cx="14630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/ Date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118104"/>
            <a:ext cx="42062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reference and purchase timestamp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364992"/>
            <a:ext cx="2560320" cy="2377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Sub-Category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3364992"/>
            <a:ext cx="1463040" cy="2377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3364992"/>
            <a:ext cx="4206240" cy="2377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hierarchy: Technology, Furniture, Office Supplies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3611880"/>
            <a:ext cx="25603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3611880"/>
            <a:ext cx="14630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3611880"/>
            <a:ext cx="42062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type: Consumer, Corporate, Home Office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858768"/>
            <a:ext cx="2560320" cy="2377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State /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17520" y="3858768"/>
            <a:ext cx="1463040" cy="2377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3858768"/>
            <a:ext cx="4206240" cy="2377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territory breakdown for geographic analysis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105656"/>
            <a:ext cx="25603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Profit / Quantity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17520" y="4105656"/>
            <a:ext cx="14630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4105656"/>
            <a:ext cx="42062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revenue, margin, and volume KPIs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352544"/>
            <a:ext cx="2560320" cy="2377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 / Payment Mode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17520" y="4352544"/>
            <a:ext cx="1463040" cy="2377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352544"/>
            <a:ext cx="4206240" cy="237744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channel and payment preference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599432"/>
            <a:ext cx="25603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017520" y="4599432"/>
            <a:ext cx="14630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0" y="4599432"/>
            <a:ext cx="42062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returned order  |  0 = completed order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965960" cy="822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$1.57M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67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60120"/>
            <a:ext cx="1965960" cy="82296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7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$175K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8745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167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(11.2%)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960120"/>
            <a:ext cx="1965960" cy="82296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9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17720" y="18745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2167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count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96012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960120"/>
            <a:ext cx="1965960" cy="82296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2984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1,742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18745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Sold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167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SKUs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20040" y="2834640"/>
          <a:ext cx="43891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4892040" y="2834640"/>
          <a:ext cx="39319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by Segment &amp; Sub-Category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14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914400"/>
          <a:ext cx="4251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794760"/>
            <a:ext cx="8503920" cy="1078992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" y="3794760"/>
            <a:ext cx="73152" cy="10789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840480"/>
            <a:ext cx="8229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dominates at 48.1% of sales. Phones ($196.6K), Chairs ($181.9K), and Binders ($175K) are the top 3 sub-categories. Corporate at 32.6% is a major upsell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Trend: 2019 vs 2020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60120"/>
          <a:ext cx="8503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160520"/>
            <a:ext cx="265176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4160520"/>
            <a:ext cx="2651760" cy="64008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224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+82%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20040" y="4562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54680" y="4160520"/>
            <a:ext cx="265176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4160520"/>
            <a:ext cx="265176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4224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Nov–Dec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154680" y="4562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Sales Period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89320" y="4160520"/>
            <a:ext cx="265176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4160520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4224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4.86%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989320" y="4562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Mode &amp; Shipping Analysis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60120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960120"/>
          <a:ext cx="42519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721608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" y="3721608"/>
            <a:ext cx="64008" cy="1170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7673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 dominates at 41.6%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4078224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Cash-on-Delivery is the preferred mode — indicates customer trust gap with digital payments.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0" y="3721608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3721608"/>
            <a:ext cx="64008" cy="1170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37673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 Class = 58%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37560" y="4078224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opt for slowest shipping, signalling strong price sensitivity over speed.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3721608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3721608"/>
            <a:ext cx="64008" cy="1170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0" y="37673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287 returns (4.86%)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217920" y="4078224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return rate overall, but category-level monitoring can prevent revenue leakage.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Sales Performance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60120"/>
          <a:ext cx="5029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960120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23560" y="960120"/>
            <a:ext cx="73152" cy="804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014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1344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$522K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03720" y="13624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33.4% of sales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23560" y="1911096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911096"/>
            <a:ext cx="73152" cy="8046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06440" y="2295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03720" y="2313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 of sales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23560" y="2862072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23560" y="2862072"/>
            <a:ext cx="73152" cy="804672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2916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0644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$341K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03720" y="3264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 of sales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23560" y="3813048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23560" y="3813048"/>
            <a:ext cx="73152" cy="80467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3867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South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806440" y="4197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$252K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03720" y="4215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 of sales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" y="4160520"/>
            <a:ext cx="8503920" cy="73152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4160520"/>
            <a:ext cx="73152" cy="7315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1879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 with 33.4% of total US sales ($522K). South is weakest at 16.1% ($252K) — a key growth opportunity for targeted regional campaigns.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607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Office Supplies Leads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41.1% of total sales ($643K). Prioritise inventory and promotions here.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87552"/>
            <a:ext cx="73152" cy="118872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0607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Seasonal Surge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463040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Nov-Dec 2020 saw $297K combined. Dedicated holiday campaign planning is recommended.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22576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22576"/>
            <a:ext cx="73152" cy="118872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3957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9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414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 YoY Growth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2798064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significantly outperformed 2019. Sustain momentum with regional &amp; segment targeting.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22576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22576"/>
            <a:ext cx="73152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3957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2414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 Dependency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2798064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41.6% orders via COD raises cash-handling costs. Incentivise online/card payments.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57600"/>
            <a:ext cx="73152" cy="11887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730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West Region Dominates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413308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 $522K (33.4%). South at $252K needs regional marketing investment to grow.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73152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730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Returns Are Manageable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413308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4.86% return rate is low but tracking by sub-category can prevent future revenue leakage.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Sales Dashboard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999232"/>
            <a:ext cx="27432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3101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$1.57M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703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33101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$175K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3703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33101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3703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33101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3703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2019 – Dec 2020  |  Tool: Microsoft Power BI  |  Market: United States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Store Sales Dashboard</dc:title>
  <dc:subject>PptxGenJS Presentation</dc:subject>
  <dc:creator>PptxGenJS</dc:creator>
  <cp:lastModifiedBy>PptxGenJS</cp:lastModifiedBy>
  <cp:revision>1</cp:revision>
  <dcterms:created xsi:type="dcterms:W3CDTF">2026-03-29T06:46:50Z</dcterms:created>
  <dcterms:modified xsi:type="dcterms:W3CDTF">2026-03-29T06:46:50Z</dcterms:modified>
</cp:coreProperties>
</file>